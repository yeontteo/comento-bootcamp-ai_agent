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60" r:id="rId5"/>
    <p:sldId id="261" r:id="rId6"/>
    <p:sldId id="262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60" d="100"/>
          <a:sy n="6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10" d="100"/>
        <a:sy n="11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8679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593020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316058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386219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488930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8502783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51584" y="286785"/>
            <a:ext cx="6097780" cy="901935"/>
          </a:xfrm>
          <a:prstGeom prst="rect">
            <a:avLst/>
          </a:prstGeom>
          <a:solidFill>
            <a:schemeClr val="lt1"/>
          </a:solidFill>
        </p:spPr>
        <p:txBody>
          <a:bodyPr wrap="none">
            <a:spAutoFit/>
          </a:bodyPr>
          <a:p>
            <a:pPr>
              <a:defRPr/>
            </a:pPr>
            <a:r>
              <a:rPr lang="ko-KR" altLang="en-US" b="1">
                <a:solidFill>
                  <a:schemeClr val="dk1"/>
                </a:solidFill>
              </a:rPr>
              <a:t>청주시청 종합 정보 제공 서비스 AI 시스템 구축</a:t>
            </a:r>
            <a:r>
              <a:rPr lang="en-US" altLang="ko-KR" b="1">
                <a:solidFill>
                  <a:schemeClr val="dk1"/>
                </a:solidFill>
              </a:rPr>
              <a:t> </a:t>
            </a:r>
            <a:r>
              <a:rPr lang="ko-KR" altLang="en-US" b="1">
                <a:solidFill>
                  <a:schemeClr val="dk1"/>
                </a:solidFill>
              </a:rPr>
              <a:t>프로토타입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Test1. </a:t>
            </a:r>
            <a:r>
              <a:rPr lang="ko-KR" altLang="en-US"/>
              <a:t>단일 문서 내 기본 질문</a:t>
            </a:r>
            <a:endParaRPr lang="ko-KR" altLang="en-US"/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1584" y="1390613"/>
            <a:ext cx="9220613" cy="479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57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51584" y="286785"/>
            <a:ext cx="9983981" cy="200683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b="1"/>
              <a:t>청주시청 종합 정보 제공 서비스 AI 시스템 구축 프로토타입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Test2.</a:t>
            </a:r>
            <a:r>
              <a:rPr lang="ko-KR" altLang="en-US"/>
              <a:t> </a:t>
            </a:r>
            <a:r>
              <a:rPr lang="en-US" altLang="ko-KR"/>
              <a:t>Chunk_Size</a:t>
            </a:r>
            <a:r>
              <a:rPr lang="ko-KR" altLang="en-US"/>
              <a:t>와 </a:t>
            </a:r>
            <a:r>
              <a:rPr lang="en-US" altLang="ko-KR"/>
              <a:t>k</a:t>
            </a:r>
            <a:r>
              <a:rPr lang="ko-KR" altLang="en-US"/>
              <a:t>값에 따른 답변 변화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질문 </a:t>
            </a:r>
            <a:r>
              <a:rPr lang="en-US" altLang="ko-KR"/>
              <a:t>:</a:t>
            </a:r>
            <a:r>
              <a:rPr lang="ko-KR" altLang="en-US"/>
              <a:t> 부부가 혼인 신고를 하기 전에 아기를 출산했을 시에 출생신고란에 부모를 어떻게 적어야돼?</a:t>
            </a:r>
            <a:endParaRPr lang="ko-KR" altLang="en-US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(1) Chunk_Size=400</a:t>
            </a:r>
            <a:r>
              <a:rPr lang="ko-KR" altLang="en-US"/>
              <a:t> </a:t>
            </a:r>
            <a:r>
              <a:rPr lang="en-US" altLang="ko-KR"/>
              <a:t>/</a:t>
            </a:r>
            <a:r>
              <a:rPr lang="ko-KR" altLang="en-US"/>
              <a:t> </a:t>
            </a:r>
            <a:r>
              <a:rPr lang="en-US" altLang="ko-KR"/>
              <a:t>k=3</a:t>
            </a:r>
            <a:endParaRPr lang="ko-KR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rcRect t="11590"/>
          <a:stretch>
            <a:fillRect/>
          </a:stretch>
        </p:blipFill>
        <p:spPr>
          <a:xfrm>
            <a:off x="372717" y="2490333"/>
            <a:ext cx="8288822" cy="3791251"/>
          </a:xfrm>
          <a:prstGeom prst="rect">
            <a:avLst/>
          </a:prstGeom>
        </p:spPr>
      </p:pic>
      <p:sp>
        <p:nvSpPr>
          <p:cNvPr id="7" name=""/>
          <p:cNvSpPr txBox="1"/>
          <p:nvPr/>
        </p:nvSpPr>
        <p:spPr>
          <a:xfrm>
            <a:off x="8466171" y="5420913"/>
            <a:ext cx="3388645" cy="63508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관련 없는 재혼 케이스만 답변</a:t>
            </a:r>
            <a:endParaRPr lang="ko-KR" altLang="en-US"/>
          </a:p>
          <a:p>
            <a:pPr>
              <a:defRPr/>
            </a:pPr>
            <a:r>
              <a:rPr lang="en-US" altLang="ko-KR"/>
              <a:t>=&gt;</a:t>
            </a:r>
            <a:r>
              <a:rPr lang="ko-KR" altLang="en-US"/>
              <a:t> 핵심 답 누락 </a:t>
            </a:r>
            <a:r>
              <a:rPr lang="en-US" altLang="ko-KR"/>
              <a:t>+</a:t>
            </a:r>
            <a:r>
              <a:rPr lang="ko-KR" altLang="en-US"/>
              <a:t> 부정확한 근거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495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51584" y="286785"/>
            <a:ext cx="9983981" cy="200683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b="1"/>
              <a:t>청주시청 종합 정보 제공 서비스 AI 시스템 구축 프로토타입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Test2.</a:t>
            </a:r>
            <a:r>
              <a:rPr lang="ko-KR" altLang="en-US"/>
              <a:t> </a:t>
            </a:r>
            <a:r>
              <a:rPr lang="en-US" altLang="ko-KR"/>
              <a:t>Chunk_Size</a:t>
            </a:r>
            <a:r>
              <a:rPr lang="ko-KR" altLang="en-US"/>
              <a:t>와 </a:t>
            </a:r>
            <a:r>
              <a:rPr lang="en-US" altLang="ko-KR"/>
              <a:t>k</a:t>
            </a:r>
            <a:r>
              <a:rPr lang="ko-KR" altLang="en-US"/>
              <a:t>값에 따른 답변 변화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질문 </a:t>
            </a:r>
            <a:r>
              <a:rPr lang="en-US" altLang="ko-KR"/>
              <a:t>:</a:t>
            </a:r>
            <a:r>
              <a:rPr lang="ko-KR" altLang="en-US"/>
              <a:t> 부부가 혼인 신고를 하기 전에 아기를 출산했을 시에 출생신고란에 부모를 어떻게 적어야돼?</a:t>
            </a:r>
            <a:endParaRPr lang="ko-KR" altLang="en-US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(2) Chunk_Size=1000</a:t>
            </a:r>
            <a:r>
              <a:rPr lang="ko-KR" altLang="en-US"/>
              <a:t> </a:t>
            </a:r>
            <a:r>
              <a:rPr lang="en-US" altLang="ko-KR"/>
              <a:t>/</a:t>
            </a:r>
            <a:r>
              <a:rPr lang="ko-KR" altLang="en-US"/>
              <a:t> </a:t>
            </a:r>
            <a:r>
              <a:rPr lang="en-US" altLang="ko-KR"/>
              <a:t>k=3</a:t>
            </a:r>
            <a:endParaRPr lang="en-US" altLang="ko-KR"/>
          </a:p>
        </p:txBody>
      </p:sp>
      <p:sp>
        <p:nvSpPr>
          <p:cNvPr id="7" name=""/>
          <p:cNvSpPr txBox="1"/>
          <p:nvPr/>
        </p:nvSpPr>
        <p:spPr>
          <a:xfrm>
            <a:off x="8466171" y="5420913"/>
            <a:ext cx="3055269" cy="63508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서류 목록 위주</a:t>
            </a:r>
            <a:r>
              <a:rPr lang="en-US" altLang="ko-KR"/>
              <a:t>,</a:t>
            </a:r>
            <a:r>
              <a:rPr lang="ko-KR" altLang="en-US"/>
              <a:t> 핵심 답 누락</a:t>
            </a:r>
            <a:endParaRPr lang="ko-KR" altLang="en-US"/>
          </a:p>
          <a:p>
            <a:pPr>
              <a:defRPr/>
            </a:pPr>
            <a:r>
              <a:rPr lang="en-US" altLang="ko-KR"/>
              <a:t>=&gt;</a:t>
            </a:r>
            <a:r>
              <a:rPr lang="ko-KR" altLang="en-US"/>
              <a:t> 정답 자체가 빠짐</a:t>
            </a: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rcRect t="8410"/>
          <a:stretch>
            <a:fillRect/>
          </a:stretch>
        </p:blipFill>
        <p:spPr>
          <a:xfrm>
            <a:off x="372717" y="2439602"/>
            <a:ext cx="7978222" cy="37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076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51584" y="286785"/>
            <a:ext cx="9983981" cy="200683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b="1"/>
              <a:t>청주시청 종합 정보 제공 서비스 AI 시스템 구축 프로토타입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Test2.</a:t>
            </a:r>
            <a:r>
              <a:rPr lang="ko-KR" altLang="en-US"/>
              <a:t> </a:t>
            </a:r>
            <a:r>
              <a:rPr lang="en-US" altLang="ko-KR"/>
              <a:t>Chunk_Size</a:t>
            </a:r>
            <a:r>
              <a:rPr lang="ko-KR" altLang="en-US"/>
              <a:t>와 </a:t>
            </a:r>
            <a:r>
              <a:rPr lang="en-US" altLang="ko-KR"/>
              <a:t>k</a:t>
            </a:r>
            <a:r>
              <a:rPr lang="ko-KR" altLang="en-US"/>
              <a:t>값에 따른 답변 변화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질문 </a:t>
            </a:r>
            <a:r>
              <a:rPr lang="en-US" altLang="ko-KR"/>
              <a:t>:</a:t>
            </a:r>
            <a:r>
              <a:rPr lang="ko-KR" altLang="en-US"/>
              <a:t> 부부가 혼인 신고를 하기 전에 아기를 출산했을 시에 출생신고란에 부모를 어떻게 적어야돼?</a:t>
            </a:r>
            <a:endParaRPr lang="ko-KR" altLang="en-US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(3) Chunk_Size=1000</a:t>
            </a:r>
            <a:r>
              <a:rPr lang="ko-KR" altLang="en-US"/>
              <a:t> </a:t>
            </a:r>
            <a:r>
              <a:rPr lang="en-US" altLang="ko-KR"/>
              <a:t>/</a:t>
            </a:r>
            <a:r>
              <a:rPr lang="ko-KR" altLang="en-US"/>
              <a:t> </a:t>
            </a:r>
            <a:r>
              <a:rPr lang="en-US" altLang="ko-KR"/>
              <a:t>k=5</a:t>
            </a:r>
            <a:endParaRPr lang="en-US" altLang="ko-KR"/>
          </a:p>
        </p:txBody>
      </p:sp>
      <p:sp>
        <p:nvSpPr>
          <p:cNvPr id="7" name=""/>
          <p:cNvSpPr txBox="1"/>
          <p:nvPr/>
        </p:nvSpPr>
        <p:spPr>
          <a:xfrm>
            <a:off x="8466171" y="5220888"/>
            <a:ext cx="2579020" cy="901782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핵심 답 정확히 포함</a:t>
            </a:r>
            <a:endParaRPr lang="ko-KR" altLang="en-US"/>
          </a:p>
          <a:p>
            <a:pPr>
              <a:defRPr/>
            </a:pPr>
            <a:r>
              <a:rPr lang="en-US" altLang="ko-KR"/>
              <a:t>(</a:t>
            </a:r>
            <a:r>
              <a:rPr lang="ko-KR" altLang="en-US"/>
              <a:t>단</a:t>
            </a:r>
            <a:r>
              <a:rPr lang="en-US" altLang="ko-KR"/>
              <a:t>,</a:t>
            </a:r>
            <a:r>
              <a:rPr lang="ko-KR" altLang="en-US"/>
              <a:t> 특수케이스는 혼재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en-US" altLang="ko-KR"/>
              <a:t>=&gt;</a:t>
            </a:r>
            <a:r>
              <a:rPr lang="ko-KR" altLang="en-US"/>
              <a:t> 가장 나은 결과</a:t>
            </a:r>
            <a:endParaRPr lang="ko-KR" altLang="en-US"/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3"/>
          <a:srcRect t="6720" r="2250"/>
          <a:stretch>
            <a:fillRect/>
          </a:stretch>
        </p:blipFill>
        <p:spPr>
          <a:xfrm>
            <a:off x="418477" y="2293620"/>
            <a:ext cx="8047693" cy="393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20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51584" y="286784"/>
            <a:ext cx="11685948" cy="447381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b="1"/>
              <a:t>청주시청 종합 정보 제공 서비스 AI 시스템 구축 프로토타입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Test2.</a:t>
            </a:r>
            <a:r>
              <a:rPr lang="ko-KR" altLang="en-US"/>
              <a:t> </a:t>
            </a:r>
            <a:r>
              <a:rPr lang="en-US" altLang="ko-KR"/>
              <a:t>Chunk_Size</a:t>
            </a:r>
            <a:r>
              <a:rPr lang="ko-KR" altLang="en-US"/>
              <a:t>와 </a:t>
            </a:r>
            <a:r>
              <a:rPr lang="en-US" altLang="ko-KR"/>
              <a:t>k</a:t>
            </a:r>
            <a:r>
              <a:rPr lang="ko-KR" altLang="en-US"/>
              <a:t>값에 따른 답변 변화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질문 </a:t>
            </a:r>
            <a:r>
              <a:rPr lang="en-US" altLang="ko-KR"/>
              <a:t>:</a:t>
            </a:r>
            <a:r>
              <a:rPr lang="ko-KR" altLang="en-US"/>
              <a:t> 부부가 혼인 신고를 하기 전에 아기를 출산했을 시에 출생신고란에 부모를 어떻게 적어야돼?</a:t>
            </a:r>
            <a:endParaRPr lang="ko-KR" altLang="en-US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결론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(1) chunk_size</a:t>
            </a:r>
            <a:r>
              <a:rPr lang="ko-KR" altLang="en-US"/>
              <a:t>가 작을 때</a:t>
            </a:r>
            <a:r>
              <a:rPr lang="en-US" altLang="ko-KR"/>
              <a:t>(400)</a:t>
            </a:r>
            <a:r>
              <a:rPr lang="ko-KR" altLang="en-US"/>
              <a:t>는 정답 문장이 다른 청크와 함께 섞여 검색되지 않아 관련성 낮은 조항이 채택되는 문제가 발생했다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(2) chunk_size</a:t>
            </a:r>
            <a:r>
              <a:rPr lang="ko-KR" altLang="en-US"/>
              <a:t>를 키우자</a:t>
            </a:r>
            <a:r>
              <a:rPr lang="en-US" altLang="ko-KR"/>
              <a:t>(1000)</a:t>
            </a:r>
            <a:r>
              <a:rPr lang="ko-KR" altLang="en-US"/>
              <a:t> 청크 수가 줄어들며 오히려 필요한 정보가 상위 </a:t>
            </a:r>
            <a:r>
              <a:rPr lang="en-US" altLang="ko-KR"/>
              <a:t>k</a:t>
            </a:r>
            <a:r>
              <a:rPr lang="ko-KR" altLang="en-US"/>
              <a:t>개 안에 들지 못하는 문제가 생겼다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(3)</a:t>
            </a:r>
            <a:r>
              <a:rPr lang="ko-KR" altLang="en-US"/>
              <a:t> </a:t>
            </a:r>
            <a:r>
              <a:rPr lang="en-US" altLang="ko-KR"/>
              <a:t>k</a:t>
            </a:r>
            <a:r>
              <a:rPr lang="ko-KR" altLang="en-US"/>
              <a:t>값을 늘리자</a:t>
            </a:r>
            <a:r>
              <a:rPr lang="en-US" altLang="ko-KR"/>
              <a:t>(5)</a:t>
            </a:r>
            <a:r>
              <a:rPr lang="ko-KR" altLang="en-US"/>
              <a:t> </a:t>
            </a:r>
            <a:r>
              <a:rPr lang="en-US" altLang="ko-KR"/>
              <a:t>chunk_size</a:t>
            </a:r>
            <a:r>
              <a:rPr lang="ko-KR" altLang="en-US"/>
              <a:t> </a:t>
            </a:r>
            <a:r>
              <a:rPr lang="en-US" altLang="ko-KR"/>
              <a:t>1000</a:t>
            </a:r>
            <a:r>
              <a:rPr lang="ko-KR" altLang="en-US"/>
              <a:t> 조합에서 핵심 답변이 포함되기 시작했다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(4)</a:t>
            </a:r>
            <a:r>
              <a:rPr lang="ko-KR" altLang="en-US"/>
              <a:t> 이를 통해 </a:t>
            </a:r>
            <a:r>
              <a:rPr lang="en-US" altLang="ko-KR"/>
              <a:t>chunk_size</a:t>
            </a:r>
            <a:r>
              <a:rPr lang="ko-KR" altLang="en-US"/>
              <a:t>와 </a:t>
            </a:r>
            <a:r>
              <a:rPr lang="en-US" altLang="ko-KR"/>
              <a:t>k</a:t>
            </a:r>
            <a:r>
              <a:rPr lang="ko-KR" altLang="en-US"/>
              <a:t>값은 함께 조정해야 검색 품질이 안정된다는 것을 확인할 수 있다</a:t>
            </a:r>
            <a:r>
              <a:rPr lang="en-US" altLang="ko-KR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55560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51584" y="286785"/>
            <a:ext cx="9983981" cy="200683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b="1"/>
              <a:t>청주시청 종합 정보 제공 서비스 AI 시스템 구축 프로토타입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Test3.</a:t>
            </a:r>
            <a:r>
              <a:rPr lang="ko-KR" altLang="en-US"/>
              <a:t> </a:t>
            </a:r>
            <a:r>
              <a:rPr lang="en-US" altLang="ko-KR"/>
              <a:t>Chunk_overlap</a:t>
            </a:r>
            <a:r>
              <a:rPr lang="ko-KR" altLang="en-US"/>
              <a:t>값에 따른 답변 변화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질문 </a:t>
            </a:r>
            <a:r>
              <a:rPr lang="en-US" altLang="ko-KR"/>
              <a:t>:</a:t>
            </a:r>
            <a:r>
              <a:rPr lang="ko-KR" altLang="en-US"/>
              <a:t> 부부가 혼인 신고를 하기 전에 아기를 출산했을 시에 출생신고란에 부모를 어떻게 적어야돼?</a:t>
            </a:r>
            <a:endParaRPr lang="ko-KR" altLang="en-US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(1) Chunk_Size=1000</a:t>
            </a:r>
            <a:r>
              <a:rPr lang="ko-KR" altLang="en-US"/>
              <a:t> </a:t>
            </a:r>
            <a:r>
              <a:rPr lang="en-US" altLang="ko-KR"/>
              <a:t>/</a:t>
            </a:r>
            <a:r>
              <a:rPr lang="ko-KR" altLang="en-US"/>
              <a:t> </a:t>
            </a:r>
            <a:r>
              <a:rPr lang="en-US" altLang="ko-KR"/>
              <a:t>k=5</a:t>
            </a:r>
            <a:r>
              <a:rPr lang="ko-KR" altLang="en-US"/>
              <a:t> </a:t>
            </a:r>
            <a:r>
              <a:rPr lang="en-US" altLang="ko-KR"/>
              <a:t>/</a:t>
            </a:r>
            <a:r>
              <a:rPr lang="ko-KR" altLang="en-US"/>
              <a:t> </a:t>
            </a:r>
            <a:r>
              <a:rPr lang="en-US" altLang="ko-KR"/>
              <a:t>Chunk_overlap = 0</a:t>
            </a:r>
            <a:endParaRPr lang="en-US" altLang="ko-KR"/>
          </a:p>
        </p:txBody>
      </p:sp>
      <p:sp>
        <p:nvSpPr>
          <p:cNvPr id="7" name=""/>
          <p:cNvSpPr txBox="1"/>
          <p:nvPr/>
        </p:nvSpPr>
        <p:spPr>
          <a:xfrm>
            <a:off x="8466171" y="5220888"/>
            <a:ext cx="3350544" cy="901782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재혼 케이스 노이즈가 발생한다</a:t>
            </a:r>
            <a:endParaRPr lang="ko-KR" altLang="en-US"/>
          </a:p>
          <a:p>
            <a:pPr>
              <a:defRPr/>
            </a:pPr>
            <a:r>
              <a:rPr lang="en-US" altLang="ko-KR"/>
              <a:t>=&gt;</a:t>
            </a:r>
            <a:r>
              <a:rPr lang="ko-KR" altLang="en-US"/>
              <a:t> 정확한 답이 나왔지만</a:t>
            </a:r>
            <a:r>
              <a:rPr lang="en-US" altLang="ko-KR"/>
              <a:t>,</a:t>
            </a:r>
            <a:endParaRPr lang="en-US" altLang="ko-KR"/>
          </a:p>
          <a:p>
            <a:pPr>
              <a:defRPr/>
            </a:pPr>
            <a:r>
              <a:rPr lang="ko-KR" altLang="en-US"/>
              <a:t>필요 없는 답도 출력됨</a:t>
            </a:r>
            <a:endParaRPr lang="en-US" altLang="ko-KR"/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3"/>
          <a:srcRect t="6720" r="2250"/>
          <a:stretch>
            <a:fillRect/>
          </a:stretch>
        </p:blipFill>
        <p:spPr>
          <a:xfrm>
            <a:off x="418477" y="2293620"/>
            <a:ext cx="8047693" cy="393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20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51584" y="286785"/>
            <a:ext cx="9983981" cy="200683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b="1"/>
              <a:t>청주시청 종합 정보 제공 서비스 AI 시스템 구축 프로토타입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Test3.</a:t>
            </a:r>
            <a:r>
              <a:rPr lang="ko-KR" altLang="en-US"/>
              <a:t> </a:t>
            </a:r>
            <a:r>
              <a:rPr lang="en-US" altLang="ko-KR"/>
              <a:t>Chunk_overlap</a:t>
            </a:r>
            <a:r>
              <a:rPr lang="ko-KR" altLang="en-US"/>
              <a:t>값에 따른 답변 변화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질문 </a:t>
            </a:r>
            <a:r>
              <a:rPr lang="en-US" altLang="ko-KR"/>
              <a:t>:</a:t>
            </a:r>
            <a:r>
              <a:rPr lang="ko-KR" altLang="en-US"/>
              <a:t> 부부가 혼인 신고를 하기 전에 아기를 출산했을 시에 출생신고란에 부모를 어떻게 적어야돼?</a:t>
            </a:r>
            <a:endParaRPr lang="ko-KR" altLang="en-US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(2) Chunk_Size=1000</a:t>
            </a:r>
            <a:r>
              <a:rPr lang="ko-KR" altLang="en-US"/>
              <a:t> </a:t>
            </a:r>
            <a:r>
              <a:rPr lang="en-US" altLang="ko-KR"/>
              <a:t>/</a:t>
            </a:r>
            <a:r>
              <a:rPr lang="ko-KR" altLang="en-US"/>
              <a:t> </a:t>
            </a:r>
            <a:r>
              <a:rPr lang="en-US" altLang="ko-KR"/>
              <a:t>k=5</a:t>
            </a:r>
            <a:r>
              <a:rPr lang="ko-KR" altLang="en-US"/>
              <a:t> </a:t>
            </a:r>
            <a:r>
              <a:rPr lang="en-US" altLang="ko-KR"/>
              <a:t>/</a:t>
            </a:r>
            <a:r>
              <a:rPr lang="ko-KR" altLang="en-US"/>
              <a:t> </a:t>
            </a:r>
            <a:r>
              <a:rPr lang="en-US" altLang="ko-KR"/>
              <a:t>Chunk_overlap = 500</a:t>
            </a:r>
            <a:endParaRPr lang="en-US" altLang="ko-KR"/>
          </a:p>
        </p:txBody>
      </p:sp>
      <p:sp>
        <p:nvSpPr>
          <p:cNvPr id="7" name=""/>
          <p:cNvSpPr txBox="1"/>
          <p:nvPr/>
        </p:nvSpPr>
        <p:spPr>
          <a:xfrm>
            <a:off x="8466171" y="5220888"/>
            <a:ext cx="2998120" cy="635082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핵심 규정 정확</a:t>
            </a:r>
            <a:r>
              <a:rPr lang="en-US" altLang="ko-KR"/>
              <a:t>,</a:t>
            </a:r>
            <a:r>
              <a:rPr lang="ko-KR" altLang="en-US"/>
              <a:t> 노이즈 없음</a:t>
            </a:r>
            <a:endParaRPr lang="ko-KR" altLang="en-US"/>
          </a:p>
          <a:p>
            <a:pPr>
              <a:defRPr/>
            </a:pPr>
            <a:r>
              <a:rPr lang="en-US" altLang="ko-KR"/>
              <a:t>=&gt;</a:t>
            </a:r>
            <a:r>
              <a:rPr lang="ko-KR" altLang="en-US"/>
              <a:t> 정확한 답이 출력됨</a:t>
            </a:r>
            <a:endParaRPr lang="ko-KR" altLang="en-US"/>
          </a:p>
        </p:txBody>
      </p:sp>
      <p:pic>
        <p:nvPicPr>
          <p:cNvPr id="10" name=""/>
          <p:cNvPicPr>
            <a:picLocks noChangeAspect="1"/>
          </p:cNvPicPr>
          <p:nvPr/>
        </p:nvPicPr>
        <p:blipFill rotWithShape="1">
          <a:blip r:embed="rId3"/>
          <a:srcRect t="13250" r="2950"/>
          <a:stretch>
            <a:fillRect/>
          </a:stretch>
        </p:blipFill>
        <p:spPr>
          <a:xfrm>
            <a:off x="418478" y="2511830"/>
            <a:ext cx="8047693" cy="371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591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51584" y="286785"/>
            <a:ext cx="9983981" cy="200683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b="1"/>
              <a:t>청주시청 종합 정보 제공 서비스 AI 시스템 구축 프로토타입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Test3.</a:t>
            </a:r>
            <a:r>
              <a:rPr lang="ko-KR" altLang="en-US"/>
              <a:t> </a:t>
            </a:r>
            <a:r>
              <a:rPr lang="en-US" altLang="ko-KR"/>
              <a:t>Chunk_overlap</a:t>
            </a:r>
            <a:r>
              <a:rPr lang="ko-KR" altLang="en-US"/>
              <a:t>값에 따른 답변 변화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질문 </a:t>
            </a:r>
            <a:r>
              <a:rPr lang="en-US" altLang="ko-KR"/>
              <a:t>:</a:t>
            </a:r>
            <a:r>
              <a:rPr lang="ko-KR" altLang="en-US"/>
              <a:t> 부부가 혼인 신고를 하기 전에 아기를 출산했을 시에 출생신고란에 부모를 어떻게 적어야돼?</a:t>
            </a:r>
            <a:endParaRPr lang="ko-KR" altLang="en-US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(3) Chunk_Size=1000</a:t>
            </a:r>
            <a:r>
              <a:rPr lang="ko-KR" altLang="en-US"/>
              <a:t> </a:t>
            </a:r>
            <a:r>
              <a:rPr lang="en-US" altLang="ko-KR"/>
              <a:t>/</a:t>
            </a:r>
            <a:r>
              <a:rPr lang="ko-KR" altLang="en-US"/>
              <a:t> </a:t>
            </a:r>
            <a:r>
              <a:rPr lang="en-US" altLang="ko-KR"/>
              <a:t>k=5</a:t>
            </a:r>
            <a:r>
              <a:rPr lang="ko-KR" altLang="en-US"/>
              <a:t> </a:t>
            </a:r>
            <a:r>
              <a:rPr lang="en-US" altLang="ko-KR"/>
              <a:t>/</a:t>
            </a:r>
            <a:r>
              <a:rPr lang="ko-KR" altLang="en-US"/>
              <a:t> </a:t>
            </a:r>
            <a:r>
              <a:rPr lang="en-US" altLang="ko-KR"/>
              <a:t>Chunk_overlap = 950</a:t>
            </a:r>
            <a:endParaRPr lang="en-US" altLang="ko-KR"/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3"/>
          <a:srcRect t="4350" r="4510"/>
          <a:stretch>
            <a:fillRect/>
          </a:stretch>
        </p:blipFill>
        <p:spPr>
          <a:xfrm>
            <a:off x="327784" y="2384743"/>
            <a:ext cx="8498973" cy="4405964"/>
          </a:xfrm>
          <a:prstGeom prst="rect">
            <a:avLst/>
          </a:prstGeom>
        </p:spPr>
      </p:pic>
      <p:sp>
        <p:nvSpPr>
          <p:cNvPr id="12" name=""/>
          <p:cNvSpPr txBox="1"/>
          <p:nvPr/>
        </p:nvSpPr>
        <p:spPr>
          <a:xfrm>
            <a:off x="8803355" y="5301170"/>
            <a:ext cx="3388645" cy="635082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관련 없는 케이스만 답변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=&gt;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핵심 답 누락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+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부정확한 근거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19360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51584" y="286784"/>
            <a:ext cx="11685948" cy="419758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b="1"/>
              <a:t>청주시청 종합 정보 제공 서비스 AI 시스템 구축 프로토타입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Test3.</a:t>
            </a:r>
            <a:r>
              <a:rPr lang="ko-KR" altLang="en-US"/>
              <a:t> </a:t>
            </a:r>
            <a:r>
              <a:rPr lang="en-US" altLang="ko-KR"/>
              <a:t>Chunk_overlap</a:t>
            </a:r>
            <a:r>
              <a:rPr lang="ko-KR" altLang="en-US"/>
              <a:t>값에 따른 답변 변화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질문 </a:t>
            </a:r>
            <a:r>
              <a:rPr lang="en-US" altLang="ko-KR"/>
              <a:t>:</a:t>
            </a:r>
            <a:r>
              <a:rPr lang="ko-KR" altLang="en-US"/>
              <a:t> 부부가 혼인 신고를 하기 전에 아기를 출산했을 시에 출생신고란에 부모를 어떻게 적어야돼?</a:t>
            </a:r>
            <a:endParaRPr lang="ko-KR" altLang="en-US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결론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(1) overlap</a:t>
            </a:r>
            <a:r>
              <a:rPr lang="ko-KR" altLang="en-US"/>
              <a:t>을 </a:t>
            </a:r>
            <a:r>
              <a:rPr lang="en-US" altLang="ko-KR"/>
              <a:t>500</a:t>
            </a:r>
            <a:r>
              <a:rPr lang="ko-KR" altLang="en-US"/>
              <a:t>까지 늘렸을 때 가장 정확한 답변을 얻었다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(2) overlap</a:t>
            </a:r>
            <a:r>
              <a:rPr lang="ko-KR" altLang="en-US"/>
              <a:t>을 </a:t>
            </a:r>
            <a:r>
              <a:rPr lang="en-US" altLang="ko-KR"/>
              <a:t>950</a:t>
            </a:r>
            <a:r>
              <a:rPr lang="ko-KR" altLang="en-US"/>
              <a:t>까지 과도하게 늘리자 오히려 청크 간 중복이 지나치게 많아지며 답변의 정밀도가 다시 떨어지는 현상을 확인했다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(4)</a:t>
            </a:r>
            <a:r>
              <a:rPr lang="ko-KR" altLang="en-US"/>
              <a:t> 이를 통해 </a:t>
            </a:r>
            <a:r>
              <a:rPr lang="en-US" altLang="ko-KR"/>
              <a:t>overlap</a:t>
            </a:r>
            <a:r>
              <a:rPr lang="ko-KR" altLang="en-US"/>
              <a:t>의 증가가 항상 성능 향상으로 이어지는 것이 아니라</a:t>
            </a:r>
            <a:r>
              <a:rPr lang="en-US" altLang="ko-KR"/>
              <a:t>,</a:t>
            </a:r>
            <a:r>
              <a:rPr lang="ko-KR" altLang="en-US"/>
              <a:t> 특정 지점 </a:t>
            </a:r>
            <a:r>
              <a:rPr lang="en-US" altLang="ko-KR"/>
              <a:t>(</a:t>
            </a:r>
            <a:r>
              <a:rPr lang="ko-KR" altLang="en-US"/>
              <a:t>이 테스트의 경우 </a:t>
            </a:r>
            <a:r>
              <a:rPr lang="en-US" altLang="ko-KR"/>
              <a:t>chunk_size</a:t>
            </a:r>
            <a:r>
              <a:rPr lang="ko-KR" altLang="en-US"/>
              <a:t>의 약 </a:t>
            </a:r>
            <a:r>
              <a:rPr lang="en-US" altLang="ko-KR"/>
              <a:t>50%)</a:t>
            </a:r>
            <a:r>
              <a:rPr lang="ko-KR" altLang="en-US"/>
              <a:t> 부근에서 최적값이 존재함을 알 수 있었다</a:t>
            </a:r>
            <a:r>
              <a:rPr lang="en-US" altLang="ko-KR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5779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251584" y="286785"/>
            <a:ext cx="6688331" cy="90193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b="1"/>
              <a:t>청주시청 종합 정보 제공 서비스 AI 시스템 구축 프로토타입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Test4. </a:t>
            </a:r>
            <a:r>
              <a:rPr lang="ko-KR" altLang="en-US"/>
              <a:t>함정 질문 </a:t>
            </a:r>
            <a:r>
              <a:rPr lang="en-US" altLang="ko-KR"/>
              <a:t>(</a:t>
            </a:r>
            <a:r>
              <a:rPr lang="ko-KR" altLang="en-US"/>
              <a:t>환각 테스트</a:t>
            </a:r>
            <a:r>
              <a:rPr lang="en-US" altLang="ko-KR"/>
              <a:t>,</a:t>
            </a:r>
            <a:r>
              <a:rPr lang="ko-KR" altLang="en-US"/>
              <a:t> 문서에 없는 정보를 질문했을 경우</a:t>
            </a:r>
            <a:r>
              <a:rPr lang="en-US" altLang="ko-KR"/>
              <a:t>)</a:t>
            </a:r>
            <a:endParaRPr lang="en-US" altLang="ko-KR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1584" y="1722804"/>
            <a:ext cx="10629899" cy="2078281"/>
          </a:xfrm>
          <a:prstGeom prst="rect">
            <a:avLst/>
          </a:prstGeom>
        </p:spPr>
      </p:pic>
      <p:sp>
        <p:nvSpPr>
          <p:cNvPr id="7" name=""/>
          <p:cNvSpPr txBox="1"/>
          <p:nvPr/>
        </p:nvSpPr>
        <p:spPr>
          <a:xfrm>
            <a:off x="476249" y="4262437"/>
            <a:ext cx="6930391" cy="364808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결과 </a:t>
            </a:r>
            <a:r>
              <a:rPr lang="en-US" altLang="ko-KR"/>
              <a:t>: </a:t>
            </a:r>
            <a:r>
              <a:rPr lang="ko-KR" altLang="en-US"/>
              <a:t>프롬프트에 넣은 "모르면 담당부서 안내" 규칙이 잘 작동한다</a:t>
            </a:r>
            <a:r>
              <a:rPr lang="en-US" altLang="ko-KR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65666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443</ep:Words>
  <ep:PresentationFormat>화면 슬라이드 쇼(4:3)</ep:PresentationFormat>
  <ep:Paragraphs>91</ep:Paragraphs>
  <ep:Slides>10</ep:Slides>
  <ep:Notes>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2026-07-06T12:38:10.600</dcterms:created>
  <dc:creator>yeonseo</dc:creator>
  <cp:lastModifiedBy>yeonseo</cp:lastModifiedBy>
  <dcterms:modified xsi:type="dcterms:W3CDTF">2026-07-06T13:30:07.805</dcterms:modified>
  <cp:revision>13</cp:revision>
  <cp:version>12.0.0.535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